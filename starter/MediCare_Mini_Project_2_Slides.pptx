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375A"/>
                </a:solidFill>
                <a:latin typeface="Aptos"/>
              </a:defRPr>
            </a:pPr>
            <a:r>
              <a:t>MediCare Outpatient Visits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646E"/>
                </a:solidFill>
                <a:latin typeface="Aptos"/>
              </a:defRPr>
            </a:pPr>
            <a:r>
              <a:t>Mini-Project 2 · Naresh IT · Python for Full Stack Data Science with AI &amp;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375A"/>
                </a:solidFill>
                <a:latin typeface="Aptos"/>
              </a:defRPr>
            </a:pPr>
            <a:r>
              <a:t>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32F3E"/>
                </a:solidFill>
                <a:latin typeface="Aptos"/>
              </a:defRPr>
            </a:pPr>
            <a:r>
              <a:t>Where are patients waiting longest, which departments earn what, is the clinic getting busier, and what should change in 2026?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4375A"/>
                </a:solidFill>
                <a:latin typeface="Aptos"/>
              </a:defRPr>
            </a:pPr>
            <a:r>
              <a:t>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32F3E"/>
                </a:solidFill>
                <a:latin typeface="Aptos"/>
              </a:defRPr>
            </a:pPr>
            <a:r>
              <a:t>2,423 raw rows · 13 columns · Jan–Dec 2025</a:t>
            </a:r>
            <a:br/>
            <a:r>
              <a:t>After deduplication and age validation: 2,397 rows · 16 analysis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6E6E"/>
                </a:solidFill>
                <a:latin typeface="Aptos"/>
              </a:defRPr>
            </a:pPr>
            <a:r>
              <a:t>MediCare Outpatient Visits · 2025 analysis ·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375A"/>
                </a:solidFill>
                <a:latin typeface="Aptos"/>
              </a:defRPr>
            </a:pPr>
            <a:r>
              <a:t>Data &amp;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646E"/>
                </a:solidFill>
                <a:latin typeface="Aptos"/>
              </a:defRPr>
            </a:pPr>
            <a:r>
              <a:t>Seven documented decisions · original export preserved for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6949440"/>
              </a:tblGrid>
              <a:tr h="56007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 marL="73152" marR="45720" marT="27432" marB="27432">
                    <a:solidFill>
                      <a:srgbClr val="143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Rows</a:t>
                      </a:r>
                    </a:p>
                  </a:txBody>
                  <a:tcPr marL="73152" marR="45720" marT="27432" marB="27432">
                    <a:solidFill>
                      <a:srgbClr val="143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 marL="73152" marR="45720" marT="27432" marB="27432">
                    <a:solidFill>
                      <a:srgbClr val="14375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Exact duplicates</a:t>
                      </a:r>
                    </a:p>
                  </a:txBody>
                  <a:tcPr marL="73152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marL="73152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Drop exact row matches</a:t>
                      </a:r>
                    </a:p>
                  </a:txBody>
                  <a:tcPr marL="73152" marR="45720" marT="27432" marB="27432"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Department labels</a:t>
                      </a:r>
                    </a:p>
                  </a:txBody>
                  <a:tcPr marL="73152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marL="73152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Trim/case-standardise; preserve ENT</a:t>
                      </a:r>
                    </a:p>
                  </a:txBody>
                  <a:tcPr marL="73152" marR="45720" marT="27432" marB="27432"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Mixed date formats</a:t>
                      </a:r>
                    </a:p>
                  </a:txBody>
                  <a:tcPr marL="73152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2,400 unique</a:t>
                      </a:r>
                    </a:p>
                  </a:txBody>
                  <a:tcPr marL="73152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Parse 3 formats explicitly</a:t>
                      </a:r>
                    </a:p>
                  </a:txBody>
                  <a:tcPr marL="73152" marR="45720" marT="27432" marB="27432"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Impossible ages</a:t>
                      </a:r>
                    </a:p>
                  </a:txBody>
                  <a:tcPr marL="73152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Reject; retain visit IDs</a:t>
                      </a:r>
                    </a:p>
                  </a:txBody>
                  <a:tcPr marL="73152" marR="45720" marT="27432" marB="27432"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Negative waits</a:t>
                      </a:r>
                    </a:p>
                  </a:txBody>
                  <a:tcPr marL="73152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3152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Correct sign with abs()</a:t>
                      </a:r>
                    </a:p>
                  </a:txBody>
                  <a:tcPr marL="73152" marR="45720" marT="27432" marB="27432"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IQR fee outliers</a:t>
                      </a:r>
                    </a:p>
                  </a:txBody>
                  <a:tcPr marL="73152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marL="73152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F3E"/>
                          </a:solidFill>
                        </a:defRPr>
                      </a:pPr>
                      <a:r>
                        <a:t>Keep ₹50,000; provisional procedure flag</a:t>
                      </a:r>
                    </a:p>
                  </a:txBody>
                  <a:tcPr marL="73152" marR="45720" marT="27432" marB="27432">
                    <a:solidFill>
                      <a:srgbClr val="FFF2C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Missing fees</a:t>
                      </a:r>
                    </a:p>
                  </a:txBody>
                  <a:tcPr marL="73152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marL="73152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F3E"/>
                          </a:solidFill>
                        </a:defRPr>
                      </a:pPr>
                      <a:r>
                        <a:t>Department median imputation</a:t>
                      </a:r>
                    </a:p>
                  </a:txBody>
                  <a:tcPr marL="73152" marR="45720" marT="27432" marB="2743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25000"/>
                </a:solidFill>
                <a:latin typeface="Aptos"/>
              </a:defRPr>
            </a:pPr>
            <a:r>
              <a:t>Proudest decision: an IQR flag is not automatic deletion — keep plausible procedure charges, but verify billing codes.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6E6E"/>
                </a:solidFill>
                <a:latin typeface="Aptos"/>
              </a:defRPr>
            </a:pPr>
            <a:r>
              <a:t>MediCare Outpatient Visits · 2025 analysis ·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375A"/>
                </a:solidFill>
                <a:latin typeface="Aptos"/>
              </a:defRPr>
            </a:pPr>
            <a:r>
              <a:t>Three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646E"/>
                </a:solidFill>
                <a:latin typeface="Aptos"/>
              </a:defRPr>
            </a:pPr>
            <a:r>
              <a:t>Workload · waiting · revenue concentration</a:t>
            </a:r>
          </a:p>
        </p:txBody>
      </p:sp>
      <p:pic>
        <p:nvPicPr>
          <p:cNvPr id="4" name="Picture 3" descr="chart_department_vis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3749039" cy="1839151"/>
          </a:xfrm>
          <a:prstGeom prst="rect">
            <a:avLst/>
          </a:prstGeom>
        </p:spPr>
      </p:pic>
      <p:pic>
        <p:nvPicPr>
          <p:cNvPr id="5" name="Picture 4" descr="chart_wait_p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143000"/>
            <a:ext cx="3749039" cy="1839151"/>
          </a:xfrm>
          <a:prstGeom prst="rect">
            <a:avLst/>
          </a:prstGeom>
        </p:spPr>
      </p:pic>
      <p:pic>
        <p:nvPicPr>
          <p:cNvPr id="6" name="Picture 5" descr="chart_revenue_concent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43000"/>
            <a:ext cx="3749039" cy="1839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4251960"/>
            <a:ext cx="3611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2F3E"/>
                </a:solidFill>
                <a:latin typeface="Aptos"/>
              </a:defRPr>
            </a:pPr>
            <a:r>
              <a:t>General Medicine: 790 visits. Monday is busiest (495).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425196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2F3E"/>
                </a:solidFill>
                <a:latin typeface="Aptos"/>
              </a:defRPr>
            </a:pPr>
            <a:r>
              <a:t>General Medicine has the highest p90 wait: 49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251960"/>
            <a:ext cx="3520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2F3E"/>
                </a:solidFill>
                <a:latin typeface="Aptos"/>
              </a:defRPr>
            </a:pPr>
            <a:r>
              <a:t>Top 10% of visits contribute 37.4% of recorded revenue; top 2 departments contribute 59.3%.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6E6E"/>
                </a:solidFill>
                <a:latin typeface="Aptos"/>
              </a:defRPr>
            </a:pPr>
            <a:r>
              <a:t>MediCare Outpatient Visits · 2025 analysis ·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375A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646E"/>
                </a:solidFill>
                <a:latin typeface="Aptos"/>
              </a:defRPr>
            </a:pPr>
            <a:r>
              <a:t>Act on queue pressure first; validate revenue interpretation in parallel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75A"/>
                </a:solidFill>
                <a:latin typeface="Aptos"/>
              </a:defRPr>
            </a:pPr>
            <a:r>
              <a:t>2026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F3E"/>
                </a:solidFill>
                <a:latin typeface="Aptos"/>
              </a:defRPr>
            </a:pPr>
            <a:r>
              <a:t>• Review Monday coverage and arrival patterns in General Medicine; pilot queue changes before making permanent staffing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F3E"/>
                </a:solidFill>
                <a:latin typeface="Aptos"/>
              </a:defRPr>
            </a:pPr>
            <a:r>
              <a:t>• Track median and 90th-percentile waits weekly alongside visits per staffed hour; escalate repeated p90 breaches.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F3E"/>
                </a:solidFill>
                <a:latin typeface="Aptos"/>
              </a:defRPr>
            </a:pPr>
            <a:r>
              <a:t>• Verify the 13 ₹50,000 charges against billing/procedure codes and report consultation revenue separately from procedure revenue.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375A"/>
                </a:solidFill>
                <a:latin typeface="Aptos"/>
              </a:defRPr>
            </a:pPr>
            <a:r>
              <a:t>The number that proves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12064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A04123"/>
                </a:solidFill>
                <a:latin typeface="Aptos"/>
              </a:defRPr>
            </a:pPr>
            <a:r>
              <a:t>49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578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F3E"/>
                </a:solidFill>
                <a:latin typeface="Aptos"/>
              </a:defRPr>
            </a:pPr>
            <a:r>
              <a:t>General Medicine 90th-percentile wait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6E6E"/>
                </a:solidFill>
                <a:latin typeface="Aptos"/>
              </a:defRPr>
            </a:pPr>
            <a:r>
              <a:t>MediCare Outpatient Visits · 2025 analysis ·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375A"/>
                </a:solidFill>
                <a:latin typeface="Aptos"/>
              </a:defRPr>
            </a:pPr>
            <a:r>
              <a:t>What I’d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646E"/>
                </a:solidFill>
                <a:latin typeface="Aptos"/>
              </a:defRPr>
            </a:pPr>
            <a:r>
              <a:t>Make the next analysis more operationally reliable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375A"/>
                </a:solidFill>
                <a:latin typeface="Aptos"/>
              </a:defRPr>
            </a:pPr>
            <a:r>
              <a:t>With more data, I would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F3E"/>
                </a:solidFill>
                <a:latin typeface="Aptos"/>
              </a:defRPr>
            </a:pPr>
            <a:r>
              <a:t>Appointment arrival and service timestamps · staffing rosters by shift · verified procedure/billing codes · reasons for missing fees · monthly visit counts alongside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375A"/>
                </a:solidFill>
                <a:latin typeface="Aptos"/>
              </a:defRPr>
            </a:pPr>
            <a:r>
              <a:t>One thing I’d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F3E"/>
                </a:solidFill>
                <a:latin typeface="Aptos"/>
              </a:defRPr>
            </a:pPr>
            <a:r>
              <a:t>Replace the fee-based procedure proxy with a verified procedure code and re-run the revenue comparisons.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375A"/>
                </a:solidFill>
                <a:latin typeface="Aptos"/>
              </a:defRPr>
            </a:pPr>
            <a:r>
              <a:t>Next: predict consult time from age + department + doctor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F3E"/>
                </a:solidFill>
                <a:latin typeface="Aptos"/>
              </a:defRPr>
            </a:pPr>
            <a:r>
              <a:t>That is the next module; this project intentionally uses descriptive analysis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6E6E"/>
                </a:solidFill>
                <a:latin typeface="Aptos"/>
              </a:defRPr>
            </a:pPr>
            <a:r>
              <a:t>MediCare Outpatient Visits · 2025 analysis ·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